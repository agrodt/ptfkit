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966" y="-4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dirty="0" err="1"/>
              <a:t>ptfkit</a:t>
            </a:r>
            <a:r>
              <a:rPr dirty="0"/>
              <a:t> v1.0: </a:t>
            </a:r>
            <a:r>
              <a:rPr dirty="0" err="1"/>
              <a:t>ошибка</a:t>
            </a:r>
            <a:r>
              <a:rPr dirty="0"/>
              <a:t> и </a:t>
            </a:r>
            <a:r>
              <a:rPr dirty="0" err="1"/>
              <a:t>покрытие</a:t>
            </a:r>
            <a:r>
              <a:rPr dirty="0"/>
              <a:t> </a:t>
            </a:r>
            <a:r>
              <a:rPr dirty="0" err="1"/>
              <a:t>экспериментальных</a:t>
            </a:r>
            <a:r>
              <a:rPr dirty="0"/>
              <a:t> ОГХ</a:t>
            </a:r>
          </a:p>
        </p:txBody>
      </p:sp>
      <p:pic>
        <p:nvPicPr>
          <p:cNvPr id="3" name="Picture 2" descr="wrc_accuracy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498079" cy="32134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914400"/>
            <a:ext cx="38404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900" b="1"/>
            </a:pPr>
            <a:r>
              <a:rPr dirty="0" err="1"/>
              <a:t>Объёмная</a:t>
            </a:r>
            <a:r>
              <a:rPr dirty="0"/>
              <a:t> ОГХ</a:t>
            </a:r>
          </a:p>
          <a:p>
            <a:pPr>
              <a:defRPr sz="1200"/>
            </a:pPr>
            <a:r>
              <a:rPr dirty="0" err="1"/>
              <a:t>Минимальная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: calc_ptf_cosby1984_univariate</a:t>
            </a:r>
            <a:br>
              <a:rPr dirty="0"/>
            </a:br>
            <a:r>
              <a:rPr dirty="0"/>
              <a:t>SB RMSE 0.0227; </a:t>
            </a:r>
            <a:r>
              <a:rPr dirty="0" err="1"/>
              <a:t>покрытие</a:t>
            </a:r>
            <a:r>
              <a:rPr dirty="0"/>
              <a:t> 5.2%</a:t>
            </a:r>
          </a:p>
          <a:p>
            <a:pPr>
              <a:defRPr sz="1200"/>
            </a:pPr>
            <a:r>
              <a:rPr dirty="0" err="1"/>
              <a:t>Высокое</a:t>
            </a:r>
            <a:r>
              <a:rPr dirty="0"/>
              <a:t> </a:t>
            </a:r>
            <a:r>
              <a:rPr dirty="0" err="1"/>
              <a:t>покрытие</a:t>
            </a:r>
            <a:r>
              <a:rPr dirty="0"/>
              <a:t>: calc_ptf_varallyai1982_chernozem_b</a:t>
            </a:r>
            <a:br>
              <a:rPr dirty="0"/>
            </a:br>
            <a:r>
              <a:rPr dirty="0"/>
              <a:t>SB RMSE 0.0454; </a:t>
            </a:r>
            <a:r>
              <a:rPr dirty="0" err="1"/>
              <a:t>покрытие</a:t>
            </a:r>
            <a:r>
              <a:rPr dirty="0"/>
              <a:t> 56.9%</a:t>
            </a:r>
          </a:p>
          <a:p>
            <a:pPr>
              <a:defRPr sz="1200"/>
            </a:pP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ансамбль</a:t>
            </a:r>
            <a:r>
              <a:rPr dirty="0"/>
              <a:t>: </a:t>
            </a:r>
            <a:r>
              <a:rPr dirty="0" err="1"/>
              <a:t>ensemble:median</a:t>
            </a:r>
            <a:br>
              <a:rPr dirty="0"/>
            </a:br>
            <a:r>
              <a:rPr dirty="0"/>
              <a:t>SB RMSE 0.0556; </a:t>
            </a:r>
            <a:r>
              <a:rPr dirty="0" err="1"/>
              <a:t>покрытие</a:t>
            </a:r>
            <a:r>
              <a:rPr dirty="0"/>
              <a:t> 56.9%</a:t>
            </a:r>
          </a:p>
          <a:p>
            <a:pPr>
              <a:defRPr sz="1900" b="1"/>
            </a:pPr>
            <a:r>
              <a:rPr dirty="0" err="1"/>
              <a:t>Массовая</a:t>
            </a:r>
            <a:r>
              <a:rPr dirty="0"/>
              <a:t> ОГХ</a:t>
            </a:r>
          </a:p>
          <a:p>
            <a:pPr>
              <a:defRPr sz="1200"/>
            </a:pPr>
            <a:r>
              <a:rPr dirty="0" err="1"/>
              <a:t>Минимальная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: family_lal1979_group_i_from_sand_WRC_mass</a:t>
            </a:r>
            <a:br>
              <a:rPr dirty="0"/>
            </a:br>
            <a:r>
              <a:rPr dirty="0"/>
              <a:t>SB RMSE 0.0699; </a:t>
            </a:r>
            <a:r>
              <a:rPr dirty="0" err="1"/>
              <a:t>покрытие</a:t>
            </a:r>
            <a:r>
              <a:rPr dirty="0"/>
              <a:t> 6.3%</a:t>
            </a:r>
          </a:p>
          <a:p>
            <a:pPr>
              <a:defRPr sz="1200"/>
            </a:pPr>
            <a:r>
              <a:rPr dirty="0" err="1"/>
              <a:t>Высокое</a:t>
            </a:r>
            <a:r>
              <a:rPr dirty="0"/>
              <a:t> </a:t>
            </a:r>
            <a:r>
              <a:rPr dirty="0" err="1"/>
              <a:t>покрытие</a:t>
            </a:r>
            <a:r>
              <a:rPr dirty="0"/>
              <a:t>: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≥25%</a:t>
            </a:r>
          </a:p>
          <a:p>
            <a:pPr>
              <a:defRPr sz="1200"/>
            </a:pP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ансамбль</a:t>
            </a:r>
            <a:r>
              <a:rPr dirty="0"/>
              <a:t>: </a:t>
            </a:r>
            <a:r>
              <a:rPr dirty="0" err="1"/>
              <a:t>ensemble:all_available_mean</a:t>
            </a:r>
            <a:br>
              <a:rPr dirty="0"/>
            </a:br>
            <a:r>
              <a:rPr dirty="0"/>
              <a:t>SB RMSE 0.1884; </a:t>
            </a:r>
            <a:r>
              <a:rPr dirty="0" err="1"/>
              <a:t>покрытие</a:t>
            </a:r>
            <a:r>
              <a:rPr dirty="0"/>
              <a:t> 10.9%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15568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2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считали</a:t>
            </a:r>
            <a:endParaRPr dirty="0"/>
          </a:p>
          <a:p>
            <a:pPr>
              <a:spcAft>
                <a:spcPts val="1400"/>
              </a:spcAft>
              <a:defRPr sz="1800"/>
            </a:pPr>
            <a:r>
              <a:rPr dirty="0"/>
              <a:t>1701 </a:t>
            </a:r>
            <a:r>
              <a:rPr dirty="0" err="1"/>
              <a:t>экспериментальная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: 1069 </a:t>
            </a:r>
            <a:r>
              <a:rPr dirty="0" err="1"/>
              <a:t>объёмных</a:t>
            </a:r>
            <a:r>
              <a:rPr dirty="0"/>
              <a:t>, 632 </a:t>
            </a:r>
            <a:r>
              <a:rPr dirty="0" err="1"/>
              <a:t>массовых</a:t>
            </a:r>
            <a:r>
              <a:rPr dirty="0"/>
              <a:t>; 142 </a:t>
            </a:r>
            <a:r>
              <a:rPr dirty="0" err="1"/>
              <a:t>образца</a:t>
            </a:r>
            <a:r>
              <a:rPr dirty="0"/>
              <a:t>, 19 </a:t>
            </a:r>
            <a:r>
              <a:rPr dirty="0" err="1"/>
              <a:t>источников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8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PTF </a:t>
            </a:r>
            <a:r>
              <a:rPr dirty="0" err="1"/>
              <a:t>использованы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экспериментальные</a:t>
            </a:r>
            <a:r>
              <a:rPr dirty="0"/>
              <a:t> </a:t>
            </a:r>
            <a:r>
              <a:rPr dirty="0" err="1"/>
              <a:t>точки</a:t>
            </a:r>
            <a:r>
              <a:rPr dirty="0"/>
              <a:t> ОГХ,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способна</a:t>
            </a:r>
            <a:r>
              <a:rPr dirty="0"/>
              <a:t> </a:t>
            </a:r>
            <a:r>
              <a:rPr dirty="0" err="1"/>
              <a:t>предсказать</a:t>
            </a:r>
            <a:r>
              <a:rPr dirty="0"/>
              <a:t>;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сравнивались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ошибке</a:t>
            </a:r>
            <a:r>
              <a:rPr dirty="0"/>
              <a:t> и </a:t>
            </a:r>
            <a:r>
              <a:rPr dirty="0" err="1"/>
              <a:t>покрытию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800"/>
            </a:pPr>
            <a:r>
              <a:rPr dirty="0"/>
              <a:t>Sample-balanced RMSE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образцам</a:t>
            </a:r>
            <a:r>
              <a:rPr dirty="0"/>
              <a:t> </a:t>
            </a:r>
            <a:r>
              <a:rPr dirty="0" err="1"/>
              <a:t>равный</a:t>
            </a:r>
            <a:r>
              <a:rPr dirty="0"/>
              <a:t> </a:t>
            </a:r>
            <a:r>
              <a:rPr dirty="0" err="1"/>
              <a:t>вес</a:t>
            </a:r>
            <a:r>
              <a:rPr dirty="0"/>
              <a:t>. </a:t>
            </a:r>
            <a:r>
              <a:rPr dirty="0" err="1"/>
              <a:t>Покрытие</a:t>
            </a:r>
            <a:r>
              <a:rPr dirty="0"/>
              <a:t> </a:t>
            </a:r>
            <a:r>
              <a:rPr dirty="0" err="1"/>
              <a:t>показано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ledger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водной</a:t>
            </a:r>
            <a:r>
              <a:rPr dirty="0"/>
              <a:t> </a:t>
            </a:r>
            <a:r>
              <a:rPr dirty="0" err="1"/>
              <a:t>базы</a:t>
            </a:r>
            <a:r>
              <a:rPr dirty="0"/>
              <a:t>.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подмножества</a:t>
            </a:r>
            <a:r>
              <a:rPr dirty="0"/>
              <a:t> </a:t>
            </a:r>
            <a:r>
              <a:rPr dirty="0" err="1"/>
              <a:t>ограничивают</a:t>
            </a:r>
            <a:r>
              <a:rPr dirty="0"/>
              <a:t>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точности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800"/>
            </a:pPr>
            <a:r>
              <a:rPr dirty="0" err="1"/>
              <a:t>Ансамбли</a:t>
            </a:r>
            <a:r>
              <a:rPr dirty="0"/>
              <a:t>: top-3, top-5, </a:t>
            </a:r>
            <a:r>
              <a:rPr dirty="0" err="1"/>
              <a:t>медиана</a:t>
            </a:r>
            <a:r>
              <a:rPr dirty="0"/>
              <a:t>, </a:t>
            </a:r>
            <a:r>
              <a:rPr dirty="0" err="1"/>
              <a:t>среднее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доступных</a:t>
            </a:r>
            <a:r>
              <a:rPr dirty="0"/>
              <a:t>. </a:t>
            </a:r>
            <a:r>
              <a:rPr dirty="0" err="1"/>
              <a:t>Состав</a:t>
            </a:r>
            <a:r>
              <a:rPr dirty="0"/>
              <a:t> </a:t>
            </a: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обучающих</a:t>
            </a:r>
            <a:r>
              <a:rPr dirty="0"/>
              <a:t> </a:t>
            </a:r>
            <a:r>
              <a:rPr dirty="0" err="1"/>
              <a:t>источниках</a:t>
            </a:r>
            <a:r>
              <a:rPr dirty="0"/>
              <a:t>; </a:t>
            </a:r>
            <a:r>
              <a:rPr dirty="0" err="1"/>
              <a:t>отложенный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исключается</a:t>
            </a:r>
            <a:r>
              <a:rPr dirty="0"/>
              <a:t>. В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точке</a:t>
            </a:r>
            <a:r>
              <a:rPr dirty="0"/>
              <a:t> </a:t>
            </a:r>
            <a:r>
              <a:rPr dirty="0" err="1"/>
              <a:t>усредняются</a:t>
            </a:r>
            <a:r>
              <a:rPr dirty="0"/>
              <a:t> </a:t>
            </a:r>
            <a:r>
              <a:rPr dirty="0" err="1"/>
              <a:t>доступные</a:t>
            </a:r>
            <a:r>
              <a:rPr dirty="0"/>
              <a:t> </a:t>
            </a:r>
            <a:r>
              <a:rPr dirty="0" err="1"/>
              <a:t>участники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</Words>
  <Application>Microsoft Office PowerPoint</Application>
  <PresentationFormat>Широкоэкранный</PresentationFormat>
  <Paragraphs>16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KT</cp:lastModifiedBy>
  <cp:revision>3</cp:revision>
  <dcterms:created xsi:type="dcterms:W3CDTF">2013-01-27T09:14:16Z</dcterms:created>
  <dcterms:modified xsi:type="dcterms:W3CDTF">2026-10-28T08:26:36Z</dcterms:modified>
  <cp:category/>
</cp:coreProperties>
</file>