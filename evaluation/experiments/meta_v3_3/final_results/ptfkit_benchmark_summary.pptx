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24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700" b="1">
                <a:solidFill>
                  <a:srgbClr val="193447"/>
                </a:solidFill>
                <a:latin typeface="Arial"/>
              </a:defRPr>
            </a:pPr>
            <a:r>
              <a:t>Сравнение педотрансферных функций для ОГХ и Ksat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10528"/>
            <a:ext cx="365760" cy="22860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482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685032" cy="452628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51960" y="1325880"/>
            <a:ext cx="3685032" cy="452628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65008" y="1339342"/>
            <a:ext cx="3685032" cy="452628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508760"/>
            <a:ext cx="3291840" cy="36626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93447"/>
                </a:solidFill>
                <a:latin typeface="Arial"/>
              </a:defRPr>
            </a:pPr>
            <a:r>
              <a:t>Объёмная ОГХ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56816"/>
            <a:ext cx="3291840" cy="608584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193447"/>
                </a:solidFill>
                <a:latin typeface="Arial"/>
              </a:defRPr>
            </a:pPr>
            <a:r>
              <a:t>Varallyai1982</a:t>
            </a:r>
          </a:p>
          <a:p>
            <a:pPr>
              <a:spcAft>
                <a:spcPts val="200"/>
              </a:spcAft>
              <a:defRPr sz="1800" b="0">
                <a:solidFill>
                  <a:srgbClr val="193447"/>
                </a:solidFill>
                <a:latin typeface="Arial"/>
              </a:defRPr>
            </a:pPr>
            <a:r>
              <a:t>chernozem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24328"/>
            <a:ext cx="3291840" cy="4902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193447"/>
                </a:solidFill>
                <a:latin typeface="Arial"/>
              </a:defRPr>
            </a:pPr>
            <a:r>
              <a:t>0.036778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36392"/>
            <a:ext cx="3291840" cy="29260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627482"/>
                </a:solidFill>
                <a:latin typeface="Arial"/>
              </a:defRPr>
            </a:pPr>
            <a:r>
              <a:rPr dirty="0"/>
              <a:t>RMSE, м³/м³ • 15 </a:t>
            </a:r>
            <a:r>
              <a:rPr dirty="0" err="1"/>
              <a:t>образцов</a:t>
            </a:r>
            <a:r>
              <a:rPr dirty="0"/>
              <a:t> / 136 </a:t>
            </a:r>
            <a:r>
              <a:rPr dirty="0" err="1"/>
              <a:t>точек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21792" y="3675887"/>
            <a:ext cx="3383280" cy="32004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Ансамбль top-5 • равные веса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087368"/>
            <a:ext cx="2148840" cy="4902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87F79"/>
                </a:solidFill>
                <a:latin typeface="Arial"/>
              </a:defRPr>
            </a:pPr>
            <a:r>
              <a:t>0.029326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105656"/>
            <a:ext cx="1097280" cy="38404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87F79"/>
                </a:solidFill>
                <a:latin typeface="Arial"/>
              </a:defRPr>
            </a:pPr>
            <a:r>
              <a:t>−20.26%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663440"/>
            <a:ext cx="3291840" cy="56692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087F79"/>
                </a:solidFill>
                <a:latin typeface="Arial"/>
              </a:defRPr>
            </a:pPr>
            <a:r>
              <a:t>Top-5 и top-3 проходят</a:t>
            </a:r>
          </a:p>
          <a:p>
            <a:pPr>
              <a:spcAft>
                <a:spcPts val="200"/>
              </a:spcAft>
              <a:defRPr sz="1600" b="0">
                <a:solidFill>
                  <a:srgbClr val="087F79"/>
                </a:solidFill>
                <a:latin typeface="Arial"/>
              </a:defRPr>
            </a:pPr>
            <a:r>
              <a:t>критерий устойчивости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413248"/>
            <a:ext cx="3291840" cy="22860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Поддержка: 10–50.1 кПа; 2 источника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508760"/>
            <a:ext cx="3291840" cy="36626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93447"/>
                </a:solidFill>
                <a:latin typeface="Arial"/>
              </a:defRPr>
            </a:pPr>
            <a:r>
              <a:t>Массовая ОГХ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1956816"/>
            <a:ext cx="3291840" cy="850392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193447"/>
                </a:solidFill>
                <a:latin typeface="Arial"/>
              </a:defRPr>
            </a:pPr>
            <a:r>
              <a:t>Lal1979 group I from sand</a:t>
            </a:r>
          </a:p>
          <a:p>
            <a:pPr>
              <a:spcAft>
                <a:spcPts val="200"/>
              </a:spcAft>
              <a:defRPr sz="1800" b="0">
                <a:solidFill>
                  <a:srgbClr val="193447"/>
                </a:solidFill>
                <a:latin typeface="Arial"/>
              </a:defRPr>
            </a:pPr>
            <a:r>
              <a:t>Дискретное семейство ОГХ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44368"/>
            <a:ext cx="3291840" cy="4902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193447"/>
                </a:solidFill>
                <a:latin typeface="Arial"/>
              </a:defRPr>
            </a:pPr>
            <a:r>
              <a:t>0.068027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493008"/>
            <a:ext cx="3291840" cy="32004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627482"/>
                </a:solidFill>
                <a:latin typeface="Arial"/>
              </a:defRPr>
            </a:pPr>
            <a:r>
              <a:t>RMSE, кг/кг • 10 образцов / 30 точек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4160520"/>
            <a:ext cx="3291840" cy="88696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900" b="0">
                <a:solidFill>
                  <a:srgbClr val="627482"/>
                </a:solidFill>
                <a:latin typeface="Arial"/>
              </a:defRPr>
            </a:pPr>
            <a:r>
              <a:rPr dirty="0" err="1"/>
              <a:t>Ансамбль</a:t>
            </a:r>
            <a:r>
              <a:rPr dirty="0"/>
              <a:t> </a:t>
            </a:r>
            <a:r>
              <a:rPr dirty="0" err="1"/>
              <a:t>устойчивого</a:t>
            </a:r>
            <a:endParaRPr dirty="0"/>
          </a:p>
          <a:p>
            <a:pPr>
              <a:spcAft>
                <a:spcPts val="200"/>
              </a:spcAft>
              <a:defRPr sz="1900" b="0">
                <a:solidFill>
                  <a:srgbClr val="627482"/>
                </a:solidFill>
                <a:latin typeface="Arial"/>
              </a:defRPr>
            </a:pPr>
            <a:r>
              <a:rPr dirty="0" err="1"/>
              <a:t>преимущества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показал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4462272" y="5276088"/>
            <a:ext cx="3291840" cy="42265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Поддержка: 93.8–585.6 кПа</a:t>
            </a:r>
          </a:p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Один источник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1508760"/>
            <a:ext cx="3291840" cy="36626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93447"/>
                </a:solidFill>
                <a:latin typeface="Arial"/>
              </a:defRPr>
            </a:pPr>
            <a:r>
              <a:t>Ksat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003534"/>
            <a:ext cx="3291840" cy="603504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rPr dirty="0"/>
              <a:t>Ferrer-</a:t>
            </a:r>
            <a:r>
              <a:rPr dirty="0" err="1"/>
              <a:t>Julià</a:t>
            </a:r>
            <a:r>
              <a:rPr dirty="0"/>
              <a:t> 2004</a:t>
            </a:r>
          </a:p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rPr dirty="0"/>
              <a:t>gleyic </a:t>
            </a:r>
            <a:r>
              <a:rPr dirty="0" err="1"/>
              <a:t>cambisol</a:t>
            </a:r>
            <a:r>
              <a:rPr dirty="0"/>
              <a:t> sand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962656"/>
            <a:ext cx="3291840" cy="44373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700" b="1">
                <a:solidFill>
                  <a:srgbClr val="193447"/>
                </a:solidFill>
                <a:latin typeface="Arial"/>
              </a:defRPr>
            </a:pPr>
            <a:r>
              <a:t>0.270425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493008"/>
            <a:ext cx="3291840" cy="484632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627482"/>
                </a:solidFill>
                <a:latin typeface="Arial"/>
              </a:defRPr>
            </a:pPr>
            <a:r>
              <a:t>RMSE(log10)</a:t>
            </a:r>
          </a:p>
          <a:p>
            <a:pPr>
              <a:spcAft>
                <a:spcPts val="200"/>
              </a:spcAft>
              <a:defRPr sz="1300" b="0">
                <a:solidFill>
                  <a:srgbClr val="627482"/>
                </a:solidFill>
                <a:latin typeface="Arial"/>
              </a:defRPr>
            </a:pPr>
            <a:r>
              <a:t>×2: 80%   ×5: 96.7%   ×10: 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160520"/>
            <a:ext cx="3291840" cy="24688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087F79"/>
                </a:solidFill>
                <a:latin typeface="Arial"/>
              </a:defRPr>
            </a:pPr>
            <a:r>
              <a:t>Максимальное покрытие • N=39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553712"/>
            <a:ext cx="3383280" cy="38404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rPr dirty="0"/>
              <a:t>Ferrer-</a:t>
            </a:r>
            <a:r>
              <a:rPr dirty="0" err="1"/>
              <a:t>Julià</a:t>
            </a:r>
            <a:r>
              <a:rPr dirty="0"/>
              <a:t> 2004 Dane–Puckett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5074920"/>
            <a:ext cx="3291840" cy="44373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700" b="1">
                <a:solidFill>
                  <a:srgbClr val="087F79"/>
                </a:solidFill>
                <a:latin typeface="Arial"/>
              </a:defRPr>
            </a:pPr>
            <a:r>
              <a:t>0.717641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5532120"/>
            <a:ext cx="3291840" cy="195834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482"/>
                </a:solidFill>
                <a:latin typeface="Arial"/>
              </a:defRPr>
            </a:pPr>
            <a:r>
              <a:t>RMSE(log10); зависит от блока данных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989320"/>
            <a:ext cx="11201400" cy="54660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93447"/>
                </a:solidFill>
                <a:latin typeface="Arial"/>
              </a:defRPr>
            </a:pPr>
            <a:r>
              <a:rPr dirty="0" err="1"/>
              <a:t>Объёмная</a:t>
            </a:r>
            <a:r>
              <a:rPr dirty="0"/>
              <a:t> ОГХ — </a:t>
            </a:r>
            <a:r>
              <a:rPr dirty="0" err="1"/>
              <a:t>ансамбль</a:t>
            </a:r>
            <a:r>
              <a:rPr dirty="0"/>
              <a:t> </a:t>
            </a:r>
            <a:r>
              <a:rPr dirty="0" err="1"/>
              <a:t>пяти</a:t>
            </a:r>
            <a:r>
              <a:rPr dirty="0"/>
              <a:t> PTF; </a:t>
            </a:r>
            <a:r>
              <a:rPr dirty="0" err="1"/>
              <a:t>массовая</a:t>
            </a:r>
            <a:r>
              <a:rPr dirty="0"/>
              <a:t> ОГХ — </a:t>
            </a:r>
            <a:r>
              <a:rPr dirty="0" err="1"/>
              <a:t>семейство</a:t>
            </a:r>
            <a:r>
              <a:rPr dirty="0"/>
              <a:t> Lal1979;</a:t>
            </a:r>
          </a:p>
          <a:p>
            <a:pPr>
              <a:spcAft>
                <a:spcPts val="200"/>
              </a:spcAft>
              <a:defRPr sz="1600" b="1">
                <a:solidFill>
                  <a:srgbClr val="193447"/>
                </a:solidFill>
                <a:latin typeface="Arial"/>
              </a:defRPr>
            </a:pPr>
            <a:r>
              <a:rPr dirty="0" err="1"/>
              <a:t>Ksat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максимальном</a:t>
            </a:r>
            <a:r>
              <a:rPr dirty="0"/>
              <a:t> </a:t>
            </a:r>
            <a:r>
              <a:rPr dirty="0" err="1"/>
              <a:t>покрытии</a:t>
            </a:r>
            <a:r>
              <a:rPr dirty="0"/>
              <a:t> — Dane–Puckett.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700" b="1">
                <a:solidFill>
                  <a:srgbClr val="193447"/>
                </a:solidFill>
                <a:latin typeface="Arial"/>
              </a:defRPr>
            </a:pPr>
            <a:r>
              <a:t>Аппроксимация экспериментальной ОГХ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10528"/>
            <a:ext cx="365760" cy="22860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48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850392"/>
            <a:ext cx="11247120" cy="304292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87F79"/>
                </a:solidFill>
                <a:latin typeface="Arial"/>
              </a:defRPr>
            </a:pPr>
            <a:r>
              <a:t>VG m=1 даёт наименьшую медианную ошибку в целом для обеих водных баз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53312"/>
            <a:ext cx="5504688" cy="3136392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512064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193447"/>
                </a:solidFill>
                <a:latin typeface="Arial"/>
              </a:defRPr>
            </a:pPr>
            <a:r>
              <a:t>Объёмная влажность • м³/м³ • N=76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2221992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Семейство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93392"/>
            <a:ext cx="128016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Median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1417320" cy="438912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27482"/>
                </a:solidFill>
                <a:latin typeface="Arial"/>
              </a:defRPr>
            </a:pPr>
            <a:r>
              <a:t>Успех fit</a:t>
            </a:r>
          </a:p>
          <a:p>
            <a:pPr>
              <a:spcAft>
                <a:spcPts val="200"/>
              </a:spcAft>
              <a:defRPr sz="1000" b="0">
                <a:solidFill>
                  <a:srgbClr val="627482"/>
                </a:solidFill>
                <a:latin typeface="Arial"/>
              </a:defRPr>
            </a:pPr>
            <a:r>
              <a:t>строго / описательно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41448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VG m=1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23160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87F79"/>
                </a:solidFill>
                <a:latin typeface="Arial"/>
              </a:defRPr>
            </a:pPr>
            <a:r>
              <a:t>0.007472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59736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69/76   76/76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1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VG–Mualem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89503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193447"/>
                </a:solidFill>
                <a:latin typeface="Arial"/>
              </a:defRPr>
            </a:pPr>
            <a:r>
              <a:t>0.008226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26079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75/76   76/76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74136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Brooks–Corey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355848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193447"/>
                </a:solidFill>
                <a:latin typeface="Arial"/>
              </a:defRPr>
            </a:pPr>
            <a:r>
              <a:t>0.010739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392424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75/76   76/76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Clapp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22192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193447"/>
                </a:solidFill>
                <a:latin typeface="Arial"/>
              </a:defRPr>
            </a:pPr>
            <a:r>
              <a:t>0.011478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58768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63/76   76/76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353312"/>
            <a:ext cx="5504688" cy="3136392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517904"/>
            <a:ext cx="512064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193447"/>
                </a:solidFill>
                <a:latin typeface="Arial"/>
              </a:defRPr>
            </a:pPr>
            <a:r>
              <a:t>Массовая влажность • кг/кг • N=65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93392"/>
            <a:ext cx="2221992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Семейство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993392"/>
            <a:ext cx="128016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Median 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1920240"/>
            <a:ext cx="1417320" cy="438912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627482"/>
                </a:solidFill>
                <a:latin typeface="Arial"/>
              </a:defRPr>
            </a:pPr>
            <a:r>
              <a:t>Успех fit</a:t>
            </a:r>
          </a:p>
          <a:p>
            <a:pPr>
              <a:spcAft>
                <a:spcPts val="200"/>
              </a:spcAft>
              <a:defRPr sz="1000" b="0">
                <a:solidFill>
                  <a:srgbClr val="627482"/>
                </a:solidFill>
                <a:latin typeface="Arial"/>
              </a:defRPr>
            </a:pPr>
            <a:r>
              <a:t>строго / описательно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441448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VG m=1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423160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087F79"/>
                </a:solidFill>
                <a:latin typeface="Arial"/>
              </a:defRPr>
            </a:pPr>
            <a:r>
              <a:t>0.009073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459736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57/65   65/65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907791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VG–Mualem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889503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193447"/>
                </a:solidFill>
                <a:latin typeface="Arial"/>
              </a:defRPr>
            </a:pPr>
            <a:r>
              <a:t>0.011576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926079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61/65   65/65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374136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Brooks–Corey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355848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193447"/>
                </a:solidFill>
                <a:latin typeface="Arial"/>
              </a:defRPr>
            </a:pPr>
            <a:r>
              <a:t>0.014410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392424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65/65   65/65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840480"/>
            <a:ext cx="2240280" cy="31089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Clapp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822192"/>
            <a:ext cx="1325880" cy="36576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000" b="0">
                <a:solidFill>
                  <a:srgbClr val="193447"/>
                </a:solidFill>
                <a:latin typeface="Arial"/>
              </a:defRPr>
            </a:pPr>
            <a:r>
              <a:t>0.016585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858768"/>
            <a:ext cx="141732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627482"/>
                </a:solidFill>
                <a:latin typeface="Arial"/>
              </a:defRPr>
            </a:pPr>
            <a:r>
              <a:t>63/65   65/65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690872"/>
            <a:ext cx="5504688" cy="1042415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63640" y="4690872"/>
            <a:ext cx="5504688" cy="1042415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4818888"/>
            <a:ext cx="5120640" cy="237744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93447"/>
                </a:solidFill>
                <a:latin typeface="Arial"/>
              </a:defRPr>
            </a:pPr>
            <a:r>
              <a:t>Экспериментальная поддержка строгих VG m=1 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166360"/>
            <a:ext cx="5120640" cy="42265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Объёмная: 0–9.81×10⁶ кПа; массовая: 0–3.10×10⁵ кПа</a:t>
            </a:r>
          </a:p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Поддержка не является доверительным / прогнозным интервалом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818888"/>
            <a:ext cx="5120640" cy="237744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93447"/>
                </a:solidFill>
                <a:latin typeface="Arial"/>
              </a:defRPr>
            </a:pPr>
            <a:r>
              <a:t>Ошибка VG m=1 зависит от давления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166360"/>
            <a:ext cx="5120640" cy="422656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Минимальная наблюдаемая MAE: объёмная — p&lt;10 кПа (N=76);</a:t>
            </a:r>
          </a:p>
          <a:p>
            <a:pPr>
              <a:spcAft>
                <a:spcPts val="200"/>
              </a:spcAft>
              <a:defRPr sz="1200" b="0">
                <a:solidFill>
                  <a:srgbClr val="627482"/>
                </a:solidFill>
                <a:latin typeface="Arial"/>
              </a:defRPr>
            </a:pPr>
            <a:r>
              <a:t>массовая — p≥1500 кПа (N=37). Это описательные закономерности.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" y="5943600"/>
            <a:ext cx="11247120" cy="54660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93447"/>
                </a:solidFill>
                <a:latin typeface="Arial"/>
              </a:defRPr>
            </a:pPr>
            <a:r>
              <a:t>VG m=1 — предпочтительная общая функция аппроксимации ОГХ; надёжность оценивается</a:t>
            </a:r>
          </a:p>
          <a:p>
            <a:pPr>
              <a:spcAft>
                <a:spcPts val="200"/>
              </a:spcAft>
              <a:defRPr sz="1600" b="1">
                <a:solidFill>
                  <a:srgbClr val="193447"/>
                </a:solidFill>
                <a:latin typeface="Arial"/>
              </a:defRPr>
            </a:pPr>
            <a:r>
              <a:t>с учётом экспериментальной поддержки давлений и распределения ошибок.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700" b="1">
                <a:solidFill>
                  <a:srgbClr val="193447"/>
                </a:solidFill>
                <a:latin typeface="Arial"/>
              </a:defRPr>
            </a:pPr>
            <a:r>
              <a:t>Как формировался ансамбль PTF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510528"/>
            <a:ext cx="365760" cy="22860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62748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868680"/>
            <a:ext cx="11155680" cy="2743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627482"/>
                </a:solidFill>
                <a:latin typeface="Arial"/>
              </a:defRPr>
            </a:pPr>
            <a:r>
              <a:t>Приложение • одинаковые образцы и точки • выбор состава без отложенных наблюдений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1709928" cy="96012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46504"/>
            <a:ext cx="1527048" cy="577595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Отдельные</a:t>
            </a:r>
          </a:p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PTF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57984" y="1938528"/>
            <a:ext cx="155448" cy="155448"/>
          </a:xfrm>
          <a:prstGeom prst="rightArrow">
            <a:avLst/>
          </a:prstGeom>
          <a:solidFill>
            <a:srgbClr val="62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50008" y="1508760"/>
            <a:ext cx="1709928" cy="96012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41448" y="1746504"/>
            <a:ext cx="1527048" cy="577595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Одинаковая</a:t>
            </a:r>
          </a:p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когорта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96512" y="1938528"/>
            <a:ext cx="155448" cy="155448"/>
          </a:xfrm>
          <a:prstGeom prst="rightArrow">
            <a:avLst/>
          </a:prstGeom>
          <a:solidFill>
            <a:srgbClr val="62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88536" y="1508760"/>
            <a:ext cx="1709928" cy="96012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6" y="1746504"/>
            <a:ext cx="1527048" cy="577595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Ранг PTF</a:t>
            </a:r>
          </a:p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на обучении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1938528"/>
            <a:ext cx="155448" cy="155448"/>
          </a:xfrm>
          <a:prstGeom prst="rightArrow">
            <a:avLst/>
          </a:prstGeom>
          <a:solidFill>
            <a:srgbClr val="62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27064" y="1508760"/>
            <a:ext cx="1709928" cy="96012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746504"/>
            <a:ext cx="1527048" cy="577595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Выбор</a:t>
            </a:r>
          </a:p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top-N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73568" y="1938528"/>
            <a:ext cx="155448" cy="155448"/>
          </a:xfrm>
          <a:prstGeom prst="rightArrow">
            <a:avLst/>
          </a:prstGeom>
          <a:solidFill>
            <a:srgbClr val="62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65592" y="1508760"/>
            <a:ext cx="1709928" cy="96012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746504"/>
            <a:ext cx="1527048" cy="577595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Среднее</a:t>
            </a:r>
          </a:p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прогнозов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12096" y="1938528"/>
            <a:ext cx="155448" cy="155448"/>
          </a:xfrm>
          <a:prstGeom prst="rightArrow">
            <a:avLst/>
          </a:prstGeom>
          <a:solidFill>
            <a:srgbClr val="62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4120" y="1508760"/>
            <a:ext cx="1709928" cy="96012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5560" y="1746504"/>
            <a:ext cx="1527048" cy="577595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Проверка</a:t>
            </a:r>
          </a:p>
          <a:p>
            <a:pPr>
              <a:spcAft>
                <a:spcPts val="200"/>
              </a:spcAft>
              <a:defRPr sz="1700" b="1">
                <a:solidFill>
                  <a:srgbClr val="087F79"/>
                </a:solidFill>
                <a:latin typeface="Arial"/>
              </a:defRPr>
            </a:pPr>
            <a:r>
              <a:t>на held-out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71216"/>
            <a:ext cx="11064240" cy="429768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087F79"/>
                </a:solidFill>
                <a:latin typeface="Arial"/>
              </a:defRPr>
            </a:pPr>
            <a:r>
              <a:t>Прогноз top-N = сумма прогнозов выбранных PTF /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47872"/>
            <a:ext cx="10972800" cy="577595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Top-5: Clapp1978 + Varallyai1982 chernozem A, B, C и meadow.</a:t>
            </a:r>
          </a:p>
          <a:p>
            <a:pPr>
              <a:spcAft>
                <a:spcPts val="200"/>
              </a:spcAft>
              <a:defRPr sz="1700" b="0">
                <a:solidFill>
                  <a:srgbClr val="193447"/>
                </a:solidFill>
                <a:latin typeface="Arial"/>
              </a:defRPr>
            </a:pPr>
            <a:r>
              <a:t>При каждой held-out проверке выбор моделей повторяется только на обучающей части.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315968"/>
            <a:ext cx="5504688" cy="123444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63640" y="4315968"/>
            <a:ext cx="5504688" cy="1234440"/>
          </a:xfrm>
          <a:prstGeom prst="roundRect">
            <a:avLst>
              <a:gd name="adj" fmla="val 8000"/>
            </a:avLst>
          </a:prstGeom>
          <a:solidFill>
            <a:srgbClr val="F0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4480560"/>
            <a:ext cx="5029200" cy="304292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93447"/>
                </a:solidFill>
                <a:latin typeface="Arial"/>
              </a:defRPr>
            </a:pPr>
            <a:r>
              <a:t>Критерий устойчивости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937760"/>
            <a:ext cx="5029200" cy="5156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93447"/>
                </a:solidFill>
                <a:latin typeface="Arial"/>
              </a:defRPr>
            </a:pPr>
            <a:r>
              <a:t>Снижение pooled RMSE ≥1% и меньшая ошибка</a:t>
            </a:r>
          </a:p>
          <a:p>
            <a:pPr>
              <a:spcAft>
                <a:spcPts val="200"/>
              </a:spcAft>
              <a:defRPr sz="1500" b="0">
                <a:solidFill>
                  <a:srgbClr val="193447"/>
                </a:solidFill>
                <a:latin typeface="Arial"/>
              </a:defRPr>
            </a:pPr>
            <a:r>
              <a:t>во всех предусмотренных held-out проверках.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480560"/>
            <a:ext cx="5029200" cy="304292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193447"/>
                </a:solidFill>
                <a:latin typeface="Arial"/>
              </a:defRPr>
            </a:pPr>
            <a:r>
              <a:t>Два ориентира для сравнения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37760"/>
            <a:ext cx="5029200" cy="515620"/>
          </a:xfrm>
          <a:prstGeom prst="rect">
            <a:avLst/>
          </a:prstGeom>
          <a:noFill/>
        </p:spPr>
        <p:txBody>
          <a:bodyPr wrap="square" lIns="13716" tIns="4572" rIns="13716" bIns="4572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193447"/>
                </a:solidFill>
                <a:latin typeface="Arial"/>
              </a:defRPr>
            </a:pPr>
            <a:r>
              <a:t>Лучшая индивидуальная PTF на обучении</a:t>
            </a:r>
          </a:p>
          <a:p>
            <a:pPr>
              <a:spcAft>
                <a:spcPts val="200"/>
              </a:spcAft>
              <a:defRPr sz="1500" b="0">
                <a:solidFill>
                  <a:srgbClr val="193447"/>
                </a:solidFill>
                <a:latin typeface="Arial"/>
              </a:defRPr>
            </a:pPr>
            <a:r>
              <a:t>и лучшая индивидуальная PTF полной когорты.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434</Words>
  <Application>Microsoft Office PowerPoint</Application>
  <PresentationFormat>Широкоэкранный</PresentationFormat>
  <Paragraphs>103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ptfkit — финальный benchmark v1.0</dc:title>
  <dc:subject>Выбор PTF, ансамбли и аппроксимация ОГХ</dc:subject>
  <dc:creator>ptfkit</dc:creator>
  <cp:keywords/>
  <dc:description>generated using python-pptx</dc:description>
  <cp:lastModifiedBy>KT</cp:lastModifiedBy>
  <cp:revision>2</cp:revision>
  <dcterms:created xsi:type="dcterms:W3CDTF">2013-01-27T09:14:16Z</dcterms:created>
  <dcterms:modified xsi:type="dcterms:W3CDTF">2026-10-27T14:47:49Z</dcterms:modified>
  <cp:category/>
</cp:coreProperties>
</file>