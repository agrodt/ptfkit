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49" d="100"/>
          <a:sy n="149" d="100"/>
        </p:scale>
        <p:origin x="2844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253746"/>
                </a:solidFill>
                <a:latin typeface="Aptos"/>
              </a:defRPr>
            </a:pPr>
            <a:r>
              <a:t>Выбор педотрансферных функций для ОГХ и Ksat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28816"/>
            <a:ext cx="1097280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spcAft>
                <a:spcPts val="300"/>
              </a:spcAft>
              <a:defRPr sz="900" b="0">
                <a:solidFill>
                  <a:srgbClr val="657782"/>
                </a:solidFill>
                <a:latin typeface="Aptos"/>
              </a:defRPr>
            </a:pPr>
            <a:r>
              <a:t>Exploratory benchmark, meta_v3.3; results are dataset-specific.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28816"/>
            <a:ext cx="27432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spcAft>
                <a:spcPts val="300"/>
              </a:spcAft>
              <a:defRPr sz="900" b="0">
                <a:solidFill>
                  <a:srgbClr val="657782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740664"/>
            <a:ext cx="11338560" cy="27432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253746"/>
                </a:solidFill>
                <a:latin typeface="Aptos"/>
              </a:defRPr>
            </a:pPr>
            <a:r>
              <a:t>Ledger: 1,701 WRC points / 142 samples; 39 Ksat observations. Comparison cohorts are shown separately.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15568"/>
            <a:ext cx="278892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57782"/>
                </a:solidFill>
                <a:latin typeface="Aptos"/>
              </a:defRPr>
            </a:pPr>
            <a:r>
              <a:t>Volumetric WRC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353312"/>
            <a:ext cx="2788920" cy="3931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spcAft>
                <a:spcPts val="300"/>
              </a:spcAft>
              <a:defRPr sz="2700" b="1">
                <a:solidFill>
                  <a:srgbClr val="16766D"/>
                </a:solidFill>
                <a:latin typeface="Aptos"/>
              </a:defRPr>
            </a:pPr>
            <a:r>
              <a:t>0.0421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792224"/>
            <a:ext cx="2788920" cy="3474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253746"/>
                </a:solidFill>
                <a:latin typeface="Aptos"/>
              </a:defRPr>
            </a:pPr>
            <a:r>
              <a:t>Varallyai chernozem B · N=17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115568"/>
            <a:ext cx="278892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57782"/>
                </a:solidFill>
                <a:latin typeface="Aptos"/>
              </a:defRPr>
            </a:pPr>
            <a:r>
              <a:t>Gravimetric WRC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1353312"/>
            <a:ext cx="2788920" cy="3931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spcAft>
                <a:spcPts val="300"/>
              </a:spcAft>
              <a:defRPr sz="2700" b="1">
                <a:solidFill>
                  <a:srgbClr val="16766D"/>
                </a:solidFill>
                <a:latin typeface="Aptos"/>
              </a:defRPr>
            </a:pPr>
            <a:r>
              <a:t>0.0899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792224"/>
            <a:ext cx="2788920" cy="3474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253746"/>
                </a:solidFill>
                <a:latin typeface="Aptos"/>
              </a:defRPr>
            </a:pPr>
            <a:r>
              <a:t>Chakraborty eq4 · N=8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115568"/>
            <a:ext cx="278892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57782"/>
                </a:solidFill>
                <a:latin typeface="Aptos"/>
              </a:defRPr>
            </a:pPr>
            <a:r>
              <a:t>Ksat, maximum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353312"/>
            <a:ext cx="2788920" cy="3931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spcAft>
                <a:spcPts val="300"/>
              </a:spcAft>
              <a:defRPr sz="2700" b="1">
                <a:solidFill>
                  <a:srgbClr val="16766D"/>
                </a:solidFill>
                <a:latin typeface="Aptos"/>
              </a:defRPr>
            </a:pPr>
            <a:r>
              <a:t>0.718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792224"/>
            <a:ext cx="2788920" cy="3474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253746"/>
                </a:solidFill>
                <a:latin typeface="Aptos"/>
              </a:defRPr>
            </a:pPr>
            <a:r>
              <a:t>Dane–Puckett · N=39 · log10 RMSE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1115568"/>
            <a:ext cx="2788920" cy="2286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57782"/>
                </a:solidFill>
                <a:latin typeface="Aptos"/>
              </a:defRPr>
            </a:pPr>
            <a:r>
              <a:t>WRC mean ensemble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1353312"/>
            <a:ext cx="2788920" cy="39319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spcAft>
                <a:spcPts val="300"/>
              </a:spcAft>
              <a:defRPr sz="2700" b="1">
                <a:solidFill>
                  <a:srgbClr val="16766D"/>
                </a:solidFill>
                <a:latin typeface="Aptos"/>
              </a:defRPr>
            </a:pPr>
            <a:r>
              <a:t>−6.2%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1792224"/>
            <a:ext cx="2788920" cy="34747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253746"/>
                </a:solidFill>
                <a:latin typeface="Aptos"/>
              </a:defRPr>
            </a:pPr>
            <a:r>
              <a:t>Pooled gain; no robust held-out gain</a:t>
            </a:r>
          </a:p>
        </p:txBody>
      </p:sp>
      <p:pic>
        <p:nvPicPr>
          <p:cNvPr id="18" name="Picture 17" descr="figure_1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2194560"/>
            <a:ext cx="11887200" cy="323793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5559552"/>
            <a:ext cx="11247120" cy="713232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253746"/>
                </a:solidFill>
                <a:latin typeface="Aptos"/>
              </a:defRPr>
            </a:pPr>
            <a:r>
              <a:t>Varallyai B is the pooled volumetric candidate; Dane–Puckett maximizes Ksat coverage.</a:t>
            </a:r>
          </a:p>
          <a:p>
            <a:pPr>
              <a:spcAft>
                <a:spcPts val="300"/>
              </a:spcAft>
              <a:defRPr sz="1500" b="0">
                <a:solidFill>
                  <a:srgbClr val="253746"/>
                </a:solidFill>
                <a:latin typeface="Aptos"/>
              </a:defRPr>
            </a:pPr>
            <a:r>
              <a:t>Ksat common-cohort winner: gleyic cambisol sand (RMSE 0.270). Different cohorts cannot be directly ranked.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253746"/>
                </a:solidFill>
                <a:latin typeface="Aptos"/>
              </a:defRPr>
            </a:pPr>
            <a:r>
              <a:t>Аппроксимация экспериментальной ОГХ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28816"/>
            <a:ext cx="1097280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spcAft>
                <a:spcPts val="300"/>
              </a:spcAft>
              <a:defRPr sz="900" b="0">
                <a:solidFill>
                  <a:srgbClr val="657782"/>
                </a:solidFill>
                <a:latin typeface="Aptos"/>
              </a:defRPr>
            </a:pPr>
            <a:r>
              <a:t>Exploratory benchmark, meta_v3.3; results are dataset-specific.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28816"/>
            <a:ext cx="274320" cy="18288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spcAft>
                <a:spcPts val="300"/>
              </a:spcAft>
              <a:defRPr sz="900" b="0">
                <a:solidFill>
                  <a:srgbClr val="657782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777240"/>
            <a:ext cx="11338560" cy="502920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spcAft>
                <a:spcPts val="300"/>
              </a:spcAft>
              <a:defRPr sz="1700" b="1">
                <a:solidFill>
                  <a:srgbClr val="16766D"/>
                </a:solidFill>
                <a:latin typeface="Aptos"/>
              </a:defRPr>
            </a:pPr>
            <a:r>
              <a:t>VG m=1: lowest median RMSE in both bases — 0.0075 m³/m³ (N=76); 0.0091 kg/kg (N=65).</a:t>
            </a:r>
          </a:p>
        </p:txBody>
      </p:sp>
      <p:pic>
        <p:nvPicPr>
          <p:cNvPr id="6" name="Picture 5" descr="figure_2_wrc_approxi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53312"/>
            <a:ext cx="11795760" cy="47183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144768"/>
            <a:ext cx="11338560" cy="329184"/>
          </a:xfrm>
          <a:prstGeom prst="rect">
            <a:avLst/>
          </a:prstGeom>
          <a:noFill/>
        </p:spPr>
        <p:txBody>
          <a:bodyPr wrap="square" lIns="18288" tIns="9144" rIns="18288" bIns="9144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253746"/>
                </a:solidFill>
                <a:latin typeface="Aptos"/>
              </a:defRPr>
            </a:pPr>
            <a:r>
              <a:t>Volume: smallest errors below 10 kPa; regional VG differences are unclear. Mass: VG m=1 leads in all regions.</a:t>
            </a:r>
          </a:p>
          <a:p>
            <a:pPr>
              <a:spcAft>
                <a:spcPts val="300"/>
              </a:spcAft>
              <a:defRPr sz="1000" b="0">
                <a:solidFill>
                  <a:srgbClr val="253746"/>
                </a:solidFill>
                <a:latin typeface="Aptos"/>
              </a:defRPr>
            </a:pPr>
            <a:r>
              <a:t>Observed support is in the appendix; residual ribbons describe fitted-point errors, not future-sample prediction coverage.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206</Words>
  <Application>Microsoft Office PowerPoint</Application>
  <PresentationFormat>Широкоэкранный</PresentationFormat>
  <Paragraphs>24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6" baseType="lpstr">
      <vt:lpstr>Aptos</vt:lpstr>
      <vt:lpstr>Arial</vt:lpstr>
      <vt:lpstr>Calibri</vt:lpstr>
      <vt:lpstr>Office Theme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ptfkit benchmark summary</dc:title>
  <dc:subject>Dataset-specific PTF selection and analytical WRC approximation</dc:subject>
  <dc:creator>ptfkit</dc:creator>
  <cp:keywords/>
  <dc:description>generated using python-pptx</dc:description>
  <cp:lastModifiedBy>KT</cp:lastModifiedBy>
  <cp:revision>2</cp:revision>
  <dcterms:created xsi:type="dcterms:W3CDTF">2013-01-27T09:14:16Z</dcterms:created>
  <dcterms:modified xsi:type="dcterms:W3CDTF">2026-10-27T12:54:08Z</dcterms:modified>
  <cp:category/>
</cp:coreProperties>
</file>