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/>
            </a:pPr>
            <a:r>
              <a:t>ptfkit v1.0: ошибка и покрытие экспериментальных ОГХ</a:t>
            </a:r>
          </a:p>
        </p:txBody>
      </p:sp>
      <p:pic>
        <p:nvPicPr>
          <p:cNvPr id="3" name="Picture 2" descr="wrc_accuracy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7498079" cy="32134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84048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900" b="1"/>
            </a:pPr>
            <a:r>
              <a:t>Объёмная ОГХ</a:t>
            </a:r>
          </a:p>
          <a:p>
            <a:pPr>
              <a:defRPr sz="1200"/>
            </a:pPr>
            <a:r>
              <a:t>Минимальная ошибка: calc_ptf_cosby1984_univariate</a:t>
            </a:r>
            <a:br/>
            <a:r>
              <a:t>SB RMSE 0.0227; покрытие 5.2%</a:t>
            </a:r>
          </a:p>
          <a:p>
            <a:pPr>
              <a:defRPr sz="1200"/>
            </a:pPr>
            <a:r>
              <a:t>Высокое покрытие: calc_ptf_varallyai1982_chernozem_b</a:t>
            </a:r>
            <a:br/>
            <a:r>
              <a:t>SB RMSE 0.0454; покрытие 56.9%</a:t>
            </a:r>
          </a:p>
          <a:p>
            <a:pPr>
              <a:defRPr sz="1200"/>
            </a:pPr>
            <a:r>
              <a:t>Лучший ансамбль: ensemble:median</a:t>
            </a:r>
            <a:br/>
            <a:r>
              <a:t>SB RMSE 0.0556; покрытие 56.9%</a:t>
            </a:r>
          </a:p>
          <a:p>
            <a:pPr>
              <a:defRPr sz="1900" b="1"/>
            </a:pPr>
            <a:r>
              <a:t>Массовая ОГХ</a:t>
            </a:r>
          </a:p>
          <a:p>
            <a:pPr>
              <a:defRPr sz="1200"/>
            </a:pPr>
            <a:r>
              <a:t>Минимальная ошибка: family_lal1979_group_i_from_sand_WRC_mass</a:t>
            </a:r>
            <a:br/>
            <a:r>
              <a:t>SB RMSE 0.0699; покрытие 6.3%</a:t>
            </a:r>
          </a:p>
          <a:p>
            <a:pPr>
              <a:defRPr sz="1200"/>
            </a:pPr>
            <a:r>
              <a:t>Высокое покрытие: нет модели ≥25%</a:t>
            </a:r>
          </a:p>
          <a:p>
            <a:pPr>
              <a:defRPr sz="1200"/>
            </a:pPr>
            <a:r>
              <a:t>Лучший ансамбль: ensemble:all_available_mean</a:t>
            </a:r>
            <a:br/>
            <a:r>
              <a:t>SB RMSE 0.1884; покрытие 10.9%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155680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400"/>
              </a:spcAft>
              <a:defRPr sz="2200"/>
            </a:pPr>
            <a:r>
              <a:t>Как считали</a:t>
            </a:r>
          </a:p>
          <a:p>
            <a:pPr>
              <a:spcAft>
                <a:spcPts val="1400"/>
              </a:spcAft>
              <a:defRPr sz="1800"/>
            </a:pPr>
            <a:r>
              <a:t>1701 экспериментальная точка: 1069 объёмных, 632 массовых; 142 образца, 19 источников.</a:t>
            </a:r>
          </a:p>
          <a:p>
            <a:pPr>
              <a:spcAft>
                <a:spcPts val="1400"/>
              </a:spcAft>
              <a:defRPr sz="1800"/>
            </a:pPr>
            <a:r>
              <a:t>Для каждой PTF использованы все экспериментальные точки ОГХ, которые она способна предсказать; затем модели сравнивались по ошибке и покрытию.</a:t>
            </a:r>
          </a:p>
          <a:p>
            <a:pPr>
              <a:spcAft>
                <a:spcPts val="1400"/>
              </a:spcAft>
              <a:defRPr sz="1800"/>
            </a:pPr>
            <a:r>
              <a:t>Sample-balanced RMSE даёт образцам равный вес. Покрытие показано от полного ledger каждой водной базы. Разные подмножества ограничивают сравнение точности.</a:t>
            </a:r>
          </a:p>
          <a:p>
            <a:pPr>
              <a:spcAft>
                <a:spcPts val="1400"/>
              </a:spcAft>
              <a:defRPr sz="1800"/>
            </a:pPr>
            <a:r>
              <a:t>Ансамбли: top-3, top-5, медиана, среднее всех доступных. Состав выбирается только на обучающих источниках; отложенный источник полностью исключается. В каждой точке усредняются доступные участники.</a:t>
            </a:r>
          </a:p>
          <a:p>
            <a:pPr>
              <a:spcAft>
                <a:spcPts val="1400"/>
              </a:spcAft>
              <a:defRPr sz="1800"/>
            </a:pPr>
            <a:r>
              <a:t>Ksat отдельно: gleyic cambisol sand на общем наборе 30 образцов; Dane–Puckett на 39/39. Сохраняются log10-метрики, множители ×2/×5/×10 и анализ блоков. Ансамбль Ksat не строится.</a:t>
            </a:r>
          </a:p>
          <a:p>
            <a:pPr>
              <a:spcAft>
                <a:spcPts val="1400"/>
              </a:spcAft>
              <a:defRPr sz="1800"/>
            </a:pPr>
            <a:r>
              <a:t>Аппроксимации VG–Mualem, VG m=1, Brooks–Corey, Clapp: описательная подгонка к измерениям. Они не являются независимыми прогнозами PTF.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